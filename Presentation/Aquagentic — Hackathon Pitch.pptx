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DM Sans"/>
      <p:regular r:id="rId17"/>
      <p:bold r:id="rId18"/>
      <p:italic r:id="rId19"/>
      <p:boldItalic r:id="rId20"/>
    </p:embeddedFont>
    <p:embeddedFont>
      <p:font typeface="Space Grotesk"/>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DMSans-boldItalic.fntdata"/><Relationship Id="rId11" Type="http://schemas.openxmlformats.org/officeDocument/2006/relationships/slide" Target="slides/slide7.xml"/><Relationship Id="rId22" Type="http://schemas.openxmlformats.org/officeDocument/2006/relationships/font" Target="fonts/SpaceGrotesk-bold.fntdata"/><Relationship Id="rId10" Type="http://schemas.openxmlformats.org/officeDocument/2006/relationships/slide" Target="slides/slide6.xml"/><Relationship Id="rId21" Type="http://schemas.openxmlformats.org/officeDocument/2006/relationships/font" Target="fonts/SpaceGrotesk-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DMSa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DMSans-italic.fntdata"/><Relationship Id="rId6" Type="http://schemas.openxmlformats.org/officeDocument/2006/relationships/slide" Target="slides/slide2.xml"/><Relationship Id="rId18" Type="http://schemas.openxmlformats.org/officeDocument/2006/relationships/font" Target="fonts/DM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1] ~10 s. “Hi, we’re Aquagentic — Vid, Demetrio, Tim and Luca. We predict harmful algae blooms before they hit, using satellites.” Then click straight to the next slide.</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1] ~10 s. Let the picture land first, then click to bring in the word. Ask the room: “Beautiful, right? Hands up if you think this could be dangerous.” Pause for the hands. “It is. And it’s happening in Icelandic waters.” To add the photo: select the picture frame and use Add image.</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1] ~25 s. Click once per card. “Harmful algae blooms suffocate fish in their pens and make shellfish toxic. In Chile in 2016 one bloom killed 27 million fish — up to 800 million dollars. In Norway in 2019, over ten thousand tonnes of salmon died in a few weeks. And here in Iceland, in June 2021, 400,000 salmon died in sea pens in a single month — Iceland’s food authority linked the deaths to algae.” Note: the 2021 Iceland deaths were suspected, not confirmed, to be algae — say “linked to” or “suspected”, not “caused by”.</a:t>
            </a:r>
            <a:endParaRPr/>
          </a:p>
        </p:txBody>
      </p:sp>
      <p:sp>
        <p:nvSpPr>
          <p:cNvPr id="35" name="Google Shape;3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~30 s. Click once per step. “Our solution uses Copernicus — Europe’s free Earth-observation satellites. One: every day or so they measure ocean colour and sea temperature around Iceland. Two: when chlorophyll jumps above the normal level for that place and season, that’s a bloom. Three: we checked this against blooms that really happened — we found [__] of [__]. Four: on top of that we trained a model that predicts bloom risk [__] days ahead, for every farm.” Adjust steps 2–4 to match exactly what your pipeline does.</a:t>
            </a:r>
            <a:endParaRPr/>
          </a:p>
        </p:txBody>
      </p:sp>
      <p:sp>
        <p:nvSpPr>
          <p:cNvPr id="43" name="Google Shape;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~25 s. Let the GIF play. “This is our website. Every farm site gets a risk score on the map. When a bloom is coming, the farmer gets an alert [__] days ahead — enough time to stop feeding, harvest early, and save the fish.” To add the GIF: select the frame and use Add image (GIFs animate in Present mode).</a:t>
            </a:r>
            <a:endParaRPr/>
          </a:p>
        </p:txBody>
      </p:sp>
      <p:sp>
        <p:nvSpPr>
          <p:cNvPr id="52" name="Google Shape;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~15 s. “Our business model is simple: a subscription per farm site, €[__] a month. Iceland has about [__] sea-farm sites — that’s €[__]k a year before we even leave the island. And today we’re asking for [a pilot partner / funding / mentors].” Saving even one pen from a bloom pays for years of subscription — say that line if you have a number for the value of one pen.</a:t>
            </a:r>
            <a:endParaRPr/>
          </a:p>
        </p:txBody>
      </p:sp>
      <p:sp>
        <p:nvSpPr>
          <p:cNvPr id="69" name="Google Shape;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~5 s. Apple moment — slow down. “But wait… there’s more.” Smile, pause one beat, click.</a:t>
            </a:r>
            <a:endParaRPr/>
          </a:p>
        </p:txBody>
      </p:sp>
      <p:sp>
        <p:nvSpPr>
          <p:cNvPr id="88" name="Google Shape;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~15 s. “Everything you saw was Iceland. But Copernicus sees the whole planet — so adding a country is a config change, not new hardware. Norway is the world’s biggest salmon farmer. Scottish salmon is the UK’s top food export. Chile lost up to 800 million dollars in one bloom. And research institutes anywhere can use the same data.”</a:t>
            </a:r>
            <a:endParaRPr/>
          </a:p>
        </p:txBody>
      </p:sp>
      <p:sp>
        <p:nvSpPr>
          <p:cNvPr id="95" name="Google Shape;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3ec1406611938555_5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3ec1406611938555_5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h3ec1406611938555_5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3ec1406611938555_5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3ec1406611938555_5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h3ec1406611938555_5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~15 s. “And it’s not just fish farms. Hotels and beach resorts don’t want guests arriving to green water. Insurers want to price algae risk into fish-farm policies. And desalination plants — blooms clog their intakes and can shut them down.” Pick the two you like best if you’re short on time.</a:t>
            </a:r>
            <a:endParaRPr/>
          </a:p>
        </p:txBody>
      </p:sp>
      <p:sp>
        <p:nvSpPr>
          <p:cNvPr id="114" name="Google Shape;11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2] ~5 s. “Aquagentic — see the bloom before it hits. Thank you!” Both presenters step forward for questions.</a:t>
            </a:r>
            <a:endParaRPr/>
          </a:p>
        </p:txBody>
      </p:sp>
      <p:sp>
        <p:nvSpPr>
          <p:cNvPr id="120" name="Google Shape;1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2">
  <p:cSld name="Slide background 2">
    <p:bg>
      <p:bgPr>
        <a:blipFill>
          <a:blip r:embed="rId2">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5"/>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BE564"/>
              </a:buClr>
              <a:buSzPts val="1400"/>
              <a:buFont typeface="DM Sans"/>
              <a:buNone/>
            </a:pPr>
            <a:r>
              <a:rPr b="0" i="0" lang="en-US" sz="1400" u="none" cap="none" strike="noStrike">
                <a:solidFill>
                  <a:srgbClr val="9BE564"/>
                </a:solidFill>
                <a:latin typeface="DM Sans"/>
                <a:ea typeface="DM Sans"/>
                <a:cs typeface="DM Sans"/>
                <a:sym typeface="DM Sans"/>
              </a:rPr>
              <a:t>HARMFUL ALGAL BLOOM FORECASTING</a:t>
            </a:r>
            <a:endParaRPr b="0" i="0" sz="1400" u="none" cap="none" strike="noStrike">
              <a:solidFill>
                <a:schemeClr val="dk1"/>
              </a:solidFill>
              <a:latin typeface="Calibri"/>
              <a:ea typeface="Calibri"/>
              <a:cs typeface="Calibri"/>
              <a:sym typeface="Calibri"/>
            </a:endParaRPr>
          </a:p>
        </p:txBody>
      </p:sp>
      <p:sp>
        <p:nvSpPr>
          <p:cNvPr id="19" name="Google Shape;19;p5"/>
          <p:cNvSpPr/>
          <p:nvPr/>
        </p:nvSpPr>
        <p:spPr>
          <a:xfrm>
            <a:off x="812800" y="2457450"/>
            <a:ext cx="10883392" cy="14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EF2EC"/>
              </a:buClr>
              <a:buSzPts val="11000"/>
              <a:buFont typeface="Space Grotesk"/>
              <a:buNone/>
            </a:pPr>
            <a:r>
              <a:rPr b="1" i="0" lang="en-US" sz="11000" u="none" cap="none" strike="noStrike">
                <a:solidFill>
                  <a:srgbClr val="EEF2EC"/>
                </a:solidFill>
                <a:latin typeface="Space Grotesk"/>
                <a:ea typeface="Space Grotesk"/>
                <a:cs typeface="Space Grotesk"/>
                <a:sym typeface="Space Grotesk"/>
              </a:rPr>
              <a:t>aquagentic</a:t>
            </a:r>
            <a:endParaRPr b="0" i="0" sz="11000" u="none" cap="none" strike="noStrike">
              <a:solidFill>
                <a:schemeClr val="dk1"/>
              </a:solidFill>
              <a:latin typeface="Calibri"/>
              <a:ea typeface="Calibri"/>
              <a:cs typeface="Calibri"/>
              <a:sym typeface="Calibri"/>
            </a:endParaRPr>
          </a:p>
        </p:txBody>
      </p:sp>
      <p:sp>
        <p:nvSpPr>
          <p:cNvPr id="20" name="Google Shape;20;p5"/>
          <p:cNvSpPr/>
          <p:nvPr/>
        </p:nvSpPr>
        <p:spPr>
          <a:xfrm>
            <a:off x="812800" y="4006850"/>
            <a:ext cx="10883392" cy="3885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9C2BD"/>
              </a:buClr>
              <a:buSzPts val="2200"/>
              <a:buFont typeface="DM Sans"/>
              <a:buNone/>
            </a:pPr>
            <a:r>
              <a:rPr b="0" i="0" lang="en-US" sz="2200" u="none" cap="none" strike="noStrike">
                <a:solidFill>
                  <a:srgbClr val="A9C2BD"/>
                </a:solidFill>
                <a:latin typeface="DM Sans"/>
                <a:ea typeface="DM Sans"/>
                <a:cs typeface="DM Sans"/>
                <a:sym typeface="DM Sans"/>
              </a:rPr>
              <a:t>We see algae blooms coming </a:t>
            </a:r>
            <a:r>
              <a:rPr b="0" i="0" lang="en-US" sz="2200" u="none" cap="none" strike="noStrike">
                <a:solidFill>
                  <a:srgbClr val="9BE564"/>
                </a:solidFill>
                <a:latin typeface="DM Sans"/>
                <a:ea typeface="DM Sans"/>
                <a:cs typeface="DM Sans"/>
                <a:sym typeface="DM Sans"/>
              </a:rPr>
              <a:t>from space.</a:t>
            </a:r>
            <a:endParaRPr b="0" i="0" sz="2200" u="none" cap="none" strike="noStrike">
              <a:solidFill>
                <a:schemeClr val="dk1"/>
              </a:solidFill>
              <a:latin typeface="Calibri"/>
              <a:ea typeface="Calibri"/>
              <a:cs typeface="Calibri"/>
              <a:sym typeface="Calibri"/>
            </a:endParaRPr>
          </a:p>
        </p:txBody>
      </p:sp>
      <p:sp>
        <p:nvSpPr>
          <p:cNvPr id="21" name="Google Shape;21;p5"/>
          <p:cNvSpPr/>
          <p:nvPr/>
        </p:nvSpPr>
        <p:spPr>
          <a:xfrm>
            <a:off x="812800" y="5760095"/>
            <a:ext cx="441900"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Tim</a:t>
            </a:r>
            <a:endParaRPr b="0" i="0" sz="1600" u="none" cap="none" strike="noStrike">
              <a:solidFill>
                <a:schemeClr val="dk1"/>
              </a:solidFill>
              <a:latin typeface="Calibri"/>
              <a:ea typeface="Calibri"/>
              <a:cs typeface="Calibri"/>
              <a:sym typeface="Calibri"/>
            </a:endParaRPr>
          </a:p>
        </p:txBody>
      </p:sp>
      <p:sp>
        <p:nvSpPr>
          <p:cNvPr id="22" name="Google Shape;22;p5"/>
          <p:cNvSpPr/>
          <p:nvPr/>
        </p:nvSpPr>
        <p:spPr>
          <a:xfrm>
            <a:off x="1536650" y="5760095"/>
            <a:ext cx="1114723"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Demetrio</a:t>
            </a:r>
            <a:endParaRPr b="0" i="0" sz="1600" u="none" cap="none" strike="noStrike">
              <a:solidFill>
                <a:schemeClr val="dk1"/>
              </a:solidFill>
              <a:latin typeface="Calibri"/>
              <a:ea typeface="Calibri"/>
              <a:cs typeface="Calibri"/>
              <a:sym typeface="Calibri"/>
            </a:endParaRPr>
          </a:p>
        </p:txBody>
      </p:sp>
      <p:sp>
        <p:nvSpPr>
          <p:cNvPr id="23" name="Google Shape;23;p5"/>
          <p:cNvSpPr/>
          <p:nvPr/>
        </p:nvSpPr>
        <p:spPr>
          <a:xfrm>
            <a:off x="2821186" y="5760095"/>
            <a:ext cx="577513"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Luca</a:t>
            </a:r>
            <a:endParaRPr b="0" i="0" sz="1600" u="none" cap="none" strike="noStrike">
              <a:solidFill>
                <a:schemeClr val="dk1"/>
              </a:solidFill>
              <a:latin typeface="Calibri"/>
              <a:ea typeface="Calibri"/>
              <a:cs typeface="Calibri"/>
              <a:sym typeface="Calibri"/>
            </a:endParaRPr>
          </a:p>
        </p:txBody>
      </p:sp>
      <p:sp>
        <p:nvSpPr>
          <p:cNvPr id="24" name="Google Shape;24;p5"/>
          <p:cNvSpPr/>
          <p:nvPr/>
        </p:nvSpPr>
        <p:spPr>
          <a:xfrm>
            <a:off x="3658046" y="5760095"/>
            <a:ext cx="398740"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Vid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6"/>
          <p:cNvSpPr/>
          <p:nvPr/>
        </p:nvSpPr>
        <p:spPr>
          <a:xfrm>
            <a:off x="0" y="0"/>
            <a:ext cx="12192000" cy="6858000"/>
          </a:xfrm>
          <a:prstGeom prst="rect">
            <a:avLst/>
          </a:prstGeom>
          <a:gradFill>
            <a:gsLst>
              <a:gs pos="0">
                <a:srgbClr val="071A1E">
                  <a:alpha val="85098"/>
                </a:srgbClr>
              </a:gs>
              <a:gs pos="45000">
                <a:srgbClr val="071A1E">
                  <a:alpha val="20000"/>
                </a:srgbClr>
              </a:gs>
              <a:gs pos="70000">
                <a:srgbClr val="071A1E">
                  <a:alpha val="0"/>
                </a:srgbClr>
              </a:gs>
              <a:gs pos="100000">
                <a:srgbClr val="071A1E">
                  <a:alpha val="0"/>
                </a:srgbClr>
              </a:gs>
            </a:gsLst>
            <a:lin ang="162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6"/>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1E"/>
        </a:solidFill>
      </p:bgPr>
    </p:bg>
    <p:spTree>
      <p:nvGrpSpPr>
        <p:cNvPr id="36" name="Shape 36"/>
        <p:cNvGrpSpPr/>
        <p:nvPr/>
      </p:nvGrpSpPr>
      <p:grpSpPr>
        <a:xfrm>
          <a:off x="0" y="0"/>
          <a:ext cx="0" cy="0"/>
          <a:chOff x="0" y="0"/>
          <a:chExt cx="0" cy="0"/>
        </a:xfrm>
      </p:grpSpPr>
      <p:pic>
        <p:nvPicPr>
          <p:cNvPr id="37" name="Google Shape;37;p7"/>
          <p:cNvPicPr preferRelativeResize="0"/>
          <p:nvPr/>
        </p:nvPicPr>
        <p:blipFill>
          <a:blip r:embed="rId3">
            <a:alphaModFix/>
          </a:blip>
          <a:stretch>
            <a:fillRect/>
          </a:stretch>
        </p:blipFill>
        <p:spPr>
          <a:xfrm>
            <a:off x="806050" y="356000"/>
            <a:ext cx="5891100" cy="3919550"/>
          </a:xfrm>
          <a:prstGeom prst="rect">
            <a:avLst/>
          </a:prstGeom>
          <a:noFill/>
          <a:ln>
            <a:noFill/>
          </a:ln>
        </p:spPr>
      </p:pic>
      <p:pic>
        <p:nvPicPr>
          <p:cNvPr id="38" name="Google Shape;38;p7"/>
          <p:cNvPicPr preferRelativeResize="0"/>
          <p:nvPr/>
        </p:nvPicPr>
        <p:blipFill>
          <a:blip r:embed="rId4">
            <a:alphaModFix/>
          </a:blip>
          <a:stretch>
            <a:fillRect/>
          </a:stretch>
        </p:blipFill>
        <p:spPr>
          <a:xfrm>
            <a:off x="4165775" y="2724134"/>
            <a:ext cx="7075106" cy="3780249"/>
          </a:xfrm>
          <a:prstGeom prst="rect">
            <a:avLst/>
          </a:prstGeom>
          <a:noFill/>
          <a:ln>
            <a:noFill/>
          </a:ln>
        </p:spPr>
      </p:pic>
      <p:pic>
        <p:nvPicPr>
          <p:cNvPr id="39" name="Google Shape;39;p7"/>
          <p:cNvPicPr preferRelativeResize="0"/>
          <p:nvPr/>
        </p:nvPicPr>
        <p:blipFill>
          <a:blip r:embed="rId5">
            <a:alphaModFix/>
          </a:blip>
          <a:stretch>
            <a:fillRect/>
          </a:stretch>
        </p:blipFill>
        <p:spPr>
          <a:xfrm>
            <a:off x="4165775" y="2670575"/>
            <a:ext cx="7075099" cy="39826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0D7B5"/>
        </a:solidFill>
      </p:bgPr>
    </p:bg>
    <p:spTree>
      <p:nvGrpSpPr>
        <p:cNvPr id="44" name="Shape 44"/>
        <p:cNvGrpSpPr/>
        <p:nvPr/>
      </p:nvGrpSpPr>
      <p:grpSpPr>
        <a:xfrm>
          <a:off x="0" y="0"/>
          <a:ext cx="0" cy="0"/>
          <a:chOff x="0" y="0"/>
          <a:chExt cx="0" cy="0"/>
        </a:xfrm>
      </p:grpSpPr>
      <p:sp>
        <p:nvSpPr>
          <p:cNvPr id="45" name="Google Shape;45;p8"/>
          <p:cNvSpPr/>
          <p:nvPr/>
        </p:nvSpPr>
        <p:spPr>
          <a:xfrm>
            <a:off x="812800" y="812800"/>
            <a:ext cx="10883392" cy="5588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EEF2EC"/>
              </a:buClr>
              <a:buSzPts val="4000"/>
              <a:buFont typeface="Space Grotesk"/>
              <a:buNone/>
            </a:pPr>
            <a:r>
              <a:rPr b="1" i="0" lang="en-US" sz="4000" u="none" cap="none" strike="noStrike">
                <a:solidFill>
                  <a:srgbClr val="1F4A50"/>
                </a:solidFill>
                <a:latin typeface="Space Grotesk"/>
                <a:ea typeface="Space Grotesk"/>
                <a:cs typeface="Space Grotesk"/>
                <a:sym typeface="Space Grotesk"/>
              </a:rPr>
              <a:t>We watch every fjord from space.</a:t>
            </a:r>
            <a:endParaRPr b="0" i="0" sz="4000" u="none" cap="none" strike="noStrike">
              <a:solidFill>
                <a:srgbClr val="1F4A50"/>
              </a:solidFill>
              <a:latin typeface="Calibri"/>
              <a:ea typeface="Calibri"/>
              <a:cs typeface="Calibri"/>
              <a:sym typeface="Calibri"/>
            </a:endParaRPr>
          </a:p>
        </p:txBody>
      </p:sp>
      <p:sp>
        <p:nvSpPr>
          <p:cNvPr id="46" name="Google Shape;46;p8"/>
          <p:cNvSpPr/>
          <p:nvPr/>
        </p:nvSpPr>
        <p:spPr>
          <a:xfrm>
            <a:off x="812800" y="1447800"/>
            <a:ext cx="10883392" cy="289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9C2BD"/>
              </a:buClr>
              <a:buSzPts val="1600"/>
              <a:buFont typeface="DM Sans"/>
              <a:buNone/>
            </a:pPr>
            <a:r>
              <a:rPr b="0" i="0" lang="en-US" sz="1600" u="none" cap="none" strike="noStrike">
                <a:solidFill>
                  <a:srgbClr val="1F4A50"/>
                </a:solidFill>
                <a:latin typeface="DM Sans"/>
                <a:ea typeface="DM Sans"/>
                <a:cs typeface="DM Sans"/>
                <a:sym typeface="DM Sans"/>
              </a:rPr>
              <a:t>Free Copernicus satellite data, turned into a bloom forecast for each farm site.</a:t>
            </a:r>
            <a:endParaRPr b="0" i="0" sz="1600" u="none" cap="none" strike="noStrike">
              <a:solidFill>
                <a:srgbClr val="1F4A50"/>
              </a:solidFill>
              <a:latin typeface="Calibri"/>
              <a:ea typeface="Calibri"/>
              <a:cs typeface="Calibri"/>
              <a:sym typeface="Calibri"/>
            </a:endParaRPr>
          </a:p>
        </p:txBody>
      </p:sp>
      <p:sp>
        <p:nvSpPr>
          <p:cNvPr id="47" name="Google Shape;47;p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E9A95"/>
              </a:buClr>
              <a:buSzPts val="1200"/>
              <a:buFont typeface="DM Sans"/>
              <a:buNone/>
            </a:pPr>
            <a:r>
              <a:rPr b="0" i="0" lang="en-US" sz="1200" u="none" cap="none" strike="noStrike">
                <a:solidFill>
                  <a:schemeClr val="dk1"/>
                </a:solidFill>
                <a:latin typeface="DM Sans"/>
                <a:ea typeface="DM Sans"/>
                <a:cs typeface="DM Sans"/>
                <a:sym typeface="DM Sans"/>
              </a:rPr>
              <a:t>Data: Copernicus Sentinel-3 OLCI · Copernicus Marine Service · no sensors in the water</a:t>
            </a:r>
            <a:endParaRPr b="0" i="0" sz="1200" u="none" cap="none" strike="noStrike">
              <a:solidFill>
                <a:schemeClr val="dk1"/>
              </a:solidFill>
              <a:latin typeface="Calibri"/>
              <a:ea typeface="Calibri"/>
              <a:cs typeface="Calibri"/>
              <a:sym typeface="Calibri"/>
            </a:endParaRPr>
          </a:p>
        </p:txBody>
      </p:sp>
      <p:pic>
        <p:nvPicPr>
          <p:cNvPr id="48" name="Google Shape;48;p8"/>
          <p:cNvPicPr preferRelativeResize="0"/>
          <p:nvPr/>
        </p:nvPicPr>
        <p:blipFill>
          <a:blip r:embed="rId3">
            <a:alphaModFix/>
          </a:blip>
          <a:stretch>
            <a:fillRect/>
          </a:stretch>
        </p:blipFill>
        <p:spPr>
          <a:xfrm>
            <a:off x="525425" y="2033862"/>
            <a:ext cx="10658057" cy="34353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1E"/>
        </a:solidFill>
      </p:bgPr>
    </p:bg>
    <p:spTree>
      <p:nvGrpSpPr>
        <p:cNvPr id="53" name="Shape 53"/>
        <p:cNvGrpSpPr/>
        <p:nvPr/>
      </p:nvGrpSpPr>
      <p:grpSpPr>
        <a:xfrm>
          <a:off x="0" y="0"/>
          <a:ext cx="0" cy="0"/>
          <a:chOff x="0" y="0"/>
          <a:chExt cx="0" cy="0"/>
        </a:xfrm>
      </p:grpSpPr>
      <p:sp>
        <p:nvSpPr>
          <p:cNvPr id="54" name="Google Shape;54;p9"/>
          <p:cNvSpPr/>
          <p:nvPr/>
        </p:nvSpPr>
        <p:spPr>
          <a:xfrm>
            <a:off x="812800" y="812800"/>
            <a:ext cx="10883392" cy="5588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EEF2EC"/>
              </a:buClr>
              <a:buSzPts val="4000"/>
              <a:buFont typeface="Space Grotesk"/>
              <a:buNone/>
            </a:pPr>
            <a:r>
              <a:rPr b="1" i="0" lang="en-US" sz="4000" u="none" cap="none" strike="noStrike">
                <a:solidFill>
                  <a:srgbClr val="EEF2EC"/>
                </a:solidFill>
                <a:latin typeface="Space Grotesk"/>
                <a:ea typeface="Space Grotesk"/>
                <a:cs typeface="Space Grotesk"/>
                <a:sym typeface="Space Grotesk"/>
              </a:rPr>
              <a:t>Every farm gets a live forecast.</a:t>
            </a:r>
            <a:endParaRPr b="0" i="0" sz="4000" u="none" cap="none" strike="noStrike">
              <a:solidFill>
                <a:schemeClr val="dk1"/>
              </a:solidFill>
              <a:latin typeface="Calibri"/>
              <a:ea typeface="Calibri"/>
              <a:cs typeface="Calibri"/>
              <a:sym typeface="Calibri"/>
            </a:endParaRPr>
          </a:p>
        </p:txBody>
      </p:sp>
      <p:sp>
        <p:nvSpPr>
          <p:cNvPr id="55" name="Google Shape;55;p9"/>
          <p:cNvSpPr/>
          <p:nvPr/>
        </p:nvSpPr>
        <p:spPr>
          <a:xfrm>
            <a:off x="819150" y="1847850"/>
            <a:ext cx="6997700" cy="3930650"/>
          </a:xfrm>
          <a:prstGeom prst="roundRect">
            <a:avLst>
              <a:gd fmla="val 3069" name="adj"/>
            </a:avLst>
          </a:prstGeom>
          <a:solidFill>
            <a:srgbClr val="0F2C31"/>
          </a:solidFill>
          <a:ln cap="flat" cmpd="sng" w="12700">
            <a:solidFill>
              <a:srgbClr val="1F4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 name="Google Shape;56;p9"/>
          <p:cNvCxnSpPr/>
          <p:nvPr/>
        </p:nvCxnSpPr>
        <p:spPr>
          <a:xfrm>
            <a:off x="8191500" y="1841500"/>
            <a:ext cx="0" cy="805111"/>
          </a:xfrm>
          <a:prstGeom prst="straightConnector1">
            <a:avLst/>
          </a:prstGeom>
          <a:noFill/>
          <a:ln cap="flat" cmpd="sng" w="25400">
            <a:solidFill>
              <a:srgbClr val="9BE564"/>
            </a:solidFill>
            <a:prstDash val="solid"/>
            <a:round/>
            <a:headEnd len="sm" w="sm" type="none"/>
            <a:tailEnd len="sm" w="sm" type="none"/>
          </a:ln>
        </p:spPr>
      </p:cxnSp>
      <p:sp>
        <p:nvSpPr>
          <p:cNvPr id="57" name="Google Shape;57;p9"/>
          <p:cNvSpPr/>
          <p:nvPr/>
        </p:nvSpPr>
        <p:spPr>
          <a:xfrm>
            <a:off x="8407400" y="1841500"/>
            <a:ext cx="306095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EF2EC"/>
              </a:buClr>
              <a:buSzPts val="1800"/>
              <a:buFont typeface="Space Grotesk"/>
              <a:buNone/>
            </a:pPr>
            <a:r>
              <a:rPr b="1" i="0" lang="en-US" sz="1800" u="none" cap="none" strike="noStrike">
                <a:solidFill>
                  <a:srgbClr val="EEF2EC"/>
                </a:solidFill>
                <a:latin typeface="Space Grotesk"/>
                <a:ea typeface="Space Grotesk"/>
                <a:cs typeface="Space Grotesk"/>
                <a:sym typeface="Space Grotesk"/>
              </a:rPr>
              <a:t>Risk per site</a:t>
            </a:r>
            <a:endParaRPr b="0" i="0" sz="1800" u="none" cap="none" strike="noStrike">
              <a:solidFill>
                <a:schemeClr val="dk1"/>
              </a:solidFill>
              <a:latin typeface="Calibri"/>
              <a:ea typeface="Calibri"/>
              <a:cs typeface="Calibri"/>
              <a:sym typeface="Calibri"/>
            </a:endParaRPr>
          </a:p>
        </p:txBody>
      </p:sp>
      <p:sp>
        <p:nvSpPr>
          <p:cNvPr id="58" name="Google Shape;58;p9"/>
          <p:cNvSpPr/>
          <p:nvPr/>
        </p:nvSpPr>
        <p:spPr>
          <a:xfrm>
            <a:off x="8407400" y="2166590"/>
            <a:ext cx="3060954"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A9C2BD"/>
              </a:buClr>
              <a:buSzPts val="1400"/>
              <a:buFont typeface="DM Sans"/>
              <a:buNone/>
            </a:pPr>
            <a:r>
              <a:rPr b="0" i="0" lang="en-US" sz="1400" u="none" cap="none" strike="noStrike">
                <a:solidFill>
                  <a:srgbClr val="A9C2BD"/>
                </a:solidFill>
                <a:latin typeface="DM Sans"/>
                <a:ea typeface="DM Sans"/>
                <a:cs typeface="DM Sans"/>
                <a:sym typeface="DM Sans"/>
              </a:rPr>
              <a:t>Low, medium or high — at a glance, on a map.</a:t>
            </a:r>
            <a:endParaRPr b="0" i="0" sz="1400" u="none" cap="none" strike="noStrike">
              <a:solidFill>
                <a:schemeClr val="dk1"/>
              </a:solidFill>
              <a:latin typeface="Calibri"/>
              <a:ea typeface="Calibri"/>
              <a:cs typeface="Calibri"/>
              <a:sym typeface="Calibri"/>
            </a:endParaRPr>
          </a:p>
        </p:txBody>
      </p:sp>
      <p:cxnSp>
        <p:nvCxnSpPr>
          <p:cNvPr id="59" name="Google Shape;59;p9"/>
          <p:cNvCxnSpPr/>
          <p:nvPr/>
        </p:nvCxnSpPr>
        <p:spPr>
          <a:xfrm>
            <a:off x="8191500" y="3302000"/>
            <a:ext cx="0" cy="805111"/>
          </a:xfrm>
          <a:prstGeom prst="straightConnector1">
            <a:avLst/>
          </a:prstGeom>
          <a:noFill/>
          <a:ln cap="flat" cmpd="sng" w="25400">
            <a:solidFill>
              <a:srgbClr val="9BE564"/>
            </a:solidFill>
            <a:prstDash val="solid"/>
            <a:round/>
            <a:headEnd len="sm" w="sm" type="none"/>
            <a:tailEnd len="sm" w="sm" type="none"/>
          </a:ln>
        </p:spPr>
      </p:cxnSp>
      <p:sp>
        <p:nvSpPr>
          <p:cNvPr id="60" name="Google Shape;60;p9"/>
          <p:cNvSpPr/>
          <p:nvPr/>
        </p:nvSpPr>
        <p:spPr>
          <a:xfrm>
            <a:off x="8407400" y="3302000"/>
            <a:ext cx="306095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EF2EC"/>
              </a:buClr>
              <a:buSzPts val="1800"/>
              <a:buFont typeface="Space Grotesk"/>
              <a:buNone/>
            </a:pPr>
            <a:r>
              <a:rPr b="1" i="0" lang="en-US" sz="1800" u="none" cap="none" strike="noStrike">
                <a:solidFill>
                  <a:srgbClr val="EEF2EC"/>
                </a:solidFill>
                <a:latin typeface="Space Grotesk"/>
                <a:ea typeface="Space Grotesk"/>
                <a:cs typeface="Space Grotesk"/>
                <a:sym typeface="Space Grotesk"/>
              </a:rPr>
              <a:t>Early warning</a:t>
            </a:r>
            <a:endParaRPr b="0" i="0" sz="1800" u="none" cap="none" strike="noStrike">
              <a:solidFill>
                <a:schemeClr val="dk1"/>
              </a:solidFill>
              <a:latin typeface="Calibri"/>
              <a:ea typeface="Calibri"/>
              <a:cs typeface="Calibri"/>
              <a:sym typeface="Calibri"/>
            </a:endParaRPr>
          </a:p>
        </p:txBody>
      </p:sp>
      <p:sp>
        <p:nvSpPr>
          <p:cNvPr id="61" name="Google Shape;61;p9"/>
          <p:cNvSpPr/>
          <p:nvPr/>
        </p:nvSpPr>
        <p:spPr>
          <a:xfrm>
            <a:off x="8407400" y="3627090"/>
            <a:ext cx="3060954"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A9C2BD"/>
              </a:buClr>
              <a:buSzPts val="1400"/>
              <a:buFont typeface="DM Sans"/>
              <a:buNone/>
            </a:pPr>
            <a:r>
              <a:rPr b="0" i="0" lang="en-US" sz="1400" u="none" cap="none" strike="noStrike">
                <a:solidFill>
                  <a:srgbClr val="A9C2BD"/>
                </a:solidFill>
                <a:latin typeface="DM Sans"/>
                <a:ea typeface="DM Sans"/>
                <a:cs typeface="DM Sans"/>
                <a:sym typeface="DM Sans"/>
              </a:rPr>
              <a:t>Alerts </a:t>
            </a:r>
            <a:r>
              <a:rPr lang="en-US">
                <a:solidFill>
                  <a:srgbClr val="A9C2BD"/>
                </a:solidFill>
                <a:latin typeface="DM Sans"/>
                <a:ea typeface="DM Sans"/>
                <a:cs typeface="DM Sans"/>
                <a:sym typeface="DM Sans"/>
              </a:rPr>
              <a:t>3-7</a:t>
            </a:r>
            <a:r>
              <a:rPr b="0" i="0" lang="en-US" sz="1400" u="none" cap="none" strike="noStrike">
                <a:solidFill>
                  <a:srgbClr val="A9C2BD"/>
                </a:solidFill>
                <a:latin typeface="DM Sans"/>
                <a:ea typeface="DM Sans"/>
                <a:cs typeface="DM Sans"/>
                <a:sym typeface="DM Sans"/>
              </a:rPr>
              <a:t> days before a bloom reaches the pens.</a:t>
            </a:r>
            <a:endParaRPr b="0" i="0" sz="1400" u="none" cap="none" strike="noStrike">
              <a:solidFill>
                <a:schemeClr val="dk1"/>
              </a:solidFill>
              <a:latin typeface="Calibri"/>
              <a:ea typeface="Calibri"/>
              <a:cs typeface="Calibri"/>
              <a:sym typeface="Calibri"/>
            </a:endParaRPr>
          </a:p>
        </p:txBody>
      </p:sp>
      <p:cxnSp>
        <p:nvCxnSpPr>
          <p:cNvPr id="62" name="Google Shape;62;p9"/>
          <p:cNvCxnSpPr/>
          <p:nvPr/>
        </p:nvCxnSpPr>
        <p:spPr>
          <a:xfrm>
            <a:off x="8191500" y="4762500"/>
            <a:ext cx="0" cy="805111"/>
          </a:xfrm>
          <a:prstGeom prst="straightConnector1">
            <a:avLst/>
          </a:prstGeom>
          <a:noFill/>
          <a:ln cap="flat" cmpd="sng" w="25400">
            <a:solidFill>
              <a:srgbClr val="FF8A5B"/>
            </a:solidFill>
            <a:prstDash val="solid"/>
            <a:round/>
            <a:headEnd len="sm" w="sm" type="none"/>
            <a:tailEnd len="sm" w="sm" type="none"/>
          </a:ln>
        </p:spPr>
      </p:cxnSp>
      <p:sp>
        <p:nvSpPr>
          <p:cNvPr id="63" name="Google Shape;63;p9"/>
          <p:cNvSpPr/>
          <p:nvPr/>
        </p:nvSpPr>
        <p:spPr>
          <a:xfrm>
            <a:off x="8407400" y="4762500"/>
            <a:ext cx="306095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EF2EC"/>
              </a:buClr>
              <a:buSzPts val="1800"/>
              <a:buFont typeface="Space Grotesk"/>
              <a:buNone/>
            </a:pPr>
            <a:r>
              <a:rPr b="1" i="0" lang="en-US" sz="1800" u="none" cap="none" strike="noStrike">
                <a:solidFill>
                  <a:srgbClr val="EEF2EC"/>
                </a:solidFill>
                <a:latin typeface="Space Grotesk"/>
                <a:ea typeface="Space Grotesk"/>
                <a:cs typeface="Space Grotesk"/>
                <a:sym typeface="Space Grotesk"/>
              </a:rPr>
              <a:t>Time to act</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8407400" y="5087590"/>
            <a:ext cx="3060954"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A9C2BD"/>
              </a:buClr>
              <a:buSzPts val="1400"/>
              <a:buFont typeface="DM Sans"/>
              <a:buNone/>
            </a:pPr>
            <a:r>
              <a:rPr b="0" i="0" lang="en-US" sz="1400" u="none" cap="none" strike="noStrike">
                <a:solidFill>
                  <a:srgbClr val="A9C2BD"/>
                </a:solidFill>
                <a:latin typeface="DM Sans"/>
                <a:ea typeface="DM Sans"/>
                <a:cs typeface="DM Sans"/>
                <a:sym typeface="DM Sans"/>
              </a:rPr>
              <a:t>Stop feeding, harvest early, protect the stock.</a:t>
            </a:r>
            <a:endParaRPr b="0" i="0" sz="1400" u="none" cap="none" strike="noStrike">
              <a:solidFill>
                <a:schemeClr val="dk1"/>
              </a:solidFill>
              <a:latin typeface="Calibri"/>
              <a:ea typeface="Calibri"/>
              <a:cs typeface="Calibri"/>
              <a:sym typeface="Calibri"/>
            </a:endParaRPr>
          </a:p>
        </p:txBody>
      </p:sp>
      <p:pic>
        <p:nvPicPr>
          <p:cNvPr id="65" name="Google Shape;65;p9" title="algethings.gif"/>
          <p:cNvPicPr preferRelativeResize="0"/>
          <p:nvPr/>
        </p:nvPicPr>
        <p:blipFill>
          <a:blip r:embed="rId3">
            <a:alphaModFix/>
          </a:blip>
          <a:stretch>
            <a:fillRect/>
          </a:stretch>
        </p:blipFill>
        <p:spPr>
          <a:xfrm>
            <a:off x="971700" y="2020526"/>
            <a:ext cx="6692600" cy="3547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1E"/>
        </a:solidFill>
      </p:bgPr>
    </p:bg>
    <p:spTree>
      <p:nvGrpSpPr>
        <p:cNvPr id="70" name="Shape 70"/>
        <p:cNvGrpSpPr/>
        <p:nvPr/>
      </p:nvGrpSpPr>
      <p:grpSpPr>
        <a:xfrm>
          <a:off x="0" y="0"/>
          <a:ext cx="0" cy="0"/>
          <a:chOff x="0" y="0"/>
          <a:chExt cx="0" cy="0"/>
        </a:xfrm>
      </p:grpSpPr>
      <p:sp>
        <p:nvSpPr>
          <p:cNvPr id="71" name="Google Shape;71;p10"/>
          <p:cNvSpPr/>
          <p:nvPr/>
        </p:nvSpPr>
        <p:spPr>
          <a:xfrm>
            <a:off x="812800" y="812800"/>
            <a:ext cx="10883392" cy="5588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EEF2EC"/>
              </a:buClr>
              <a:buSzPts val="4000"/>
              <a:buFont typeface="Space Grotesk"/>
              <a:buNone/>
            </a:pPr>
            <a:r>
              <a:rPr b="1" i="0" lang="en-US" sz="4000" u="none" cap="none" strike="noStrike">
                <a:solidFill>
                  <a:srgbClr val="EEF2EC"/>
                </a:solidFill>
                <a:latin typeface="Space Grotesk"/>
                <a:ea typeface="Space Grotesk"/>
                <a:cs typeface="Space Grotesk"/>
                <a:sym typeface="Space Grotesk"/>
              </a:rPr>
              <a:t>How we make money.</a:t>
            </a:r>
            <a:endParaRPr b="0" i="0" sz="4000" u="none" cap="none" strike="noStrike">
              <a:solidFill>
                <a:schemeClr val="dk1"/>
              </a:solidFill>
              <a:latin typeface="Calibri"/>
              <a:ea typeface="Calibri"/>
              <a:cs typeface="Calibri"/>
              <a:sym typeface="Calibri"/>
            </a:endParaRPr>
          </a:p>
        </p:txBody>
      </p:sp>
      <p:sp>
        <p:nvSpPr>
          <p:cNvPr id="72" name="Google Shape;72;p10"/>
          <p:cNvSpPr/>
          <p:nvPr/>
        </p:nvSpPr>
        <p:spPr>
          <a:xfrm>
            <a:off x="812800" y="1447800"/>
            <a:ext cx="10883392" cy="289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9C2BD"/>
              </a:buClr>
              <a:buSzPts val="1600"/>
              <a:buFont typeface="DM Sans"/>
              <a:buNone/>
            </a:pPr>
            <a:r>
              <a:t/>
            </a:r>
            <a:endParaRPr b="0" i="0" sz="1600" u="none" cap="none" strike="noStrike">
              <a:solidFill>
                <a:schemeClr val="dk1"/>
              </a:solidFill>
              <a:latin typeface="Calibri"/>
              <a:ea typeface="Calibri"/>
              <a:cs typeface="Calibri"/>
              <a:sym typeface="Calibri"/>
            </a:endParaRPr>
          </a:p>
        </p:txBody>
      </p:sp>
      <p:sp>
        <p:nvSpPr>
          <p:cNvPr id="73" name="Google Shape;73;p10"/>
          <p:cNvSpPr/>
          <p:nvPr/>
        </p:nvSpPr>
        <p:spPr>
          <a:xfrm>
            <a:off x="815975" y="2738211"/>
            <a:ext cx="3346500" cy="2279700"/>
          </a:xfrm>
          <a:prstGeom prst="roundRect">
            <a:avLst>
              <a:gd fmla="val 6546" name="adj"/>
            </a:avLst>
          </a:prstGeom>
          <a:solidFill>
            <a:srgbClr val="0F2C31"/>
          </a:solidFill>
          <a:ln cap="flat" cmpd="sng" w="9525">
            <a:solidFill>
              <a:srgbClr val="1F4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0"/>
          <p:cNvSpPr/>
          <p:nvPr/>
        </p:nvSpPr>
        <p:spPr>
          <a:xfrm>
            <a:off x="1123950" y="3265261"/>
            <a:ext cx="2812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BE564"/>
              </a:buClr>
              <a:buSzPts val="4800"/>
              <a:buFont typeface="Space Grotesk"/>
              <a:buNone/>
            </a:pPr>
            <a:r>
              <a:rPr b="1" lang="en-US" sz="4800">
                <a:solidFill>
                  <a:srgbClr val="9BE564"/>
                </a:solidFill>
                <a:latin typeface="Space Grotesk"/>
                <a:ea typeface="Space Grotesk"/>
                <a:cs typeface="Space Grotesk"/>
                <a:sym typeface="Space Grotesk"/>
              </a:rPr>
              <a:t>$450k</a:t>
            </a:r>
            <a:endParaRPr b="0" i="0" sz="4800" u="none" cap="none" strike="noStrike">
              <a:solidFill>
                <a:schemeClr val="dk1"/>
              </a:solidFill>
              <a:latin typeface="Calibri"/>
              <a:ea typeface="Calibri"/>
              <a:cs typeface="Calibri"/>
              <a:sym typeface="Calibri"/>
            </a:endParaRPr>
          </a:p>
        </p:txBody>
      </p:sp>
      <p:sp>
        <p:nvSpPr>
          <p:cNvPr id="75" name="Google Shape;75;p10"/>
          <p:cNvSpPr/>
          <p:nvPr/>
        </p:nvSpPr>
        <p:spPr>
          <a:xfrm>
            <a:off x="1123950" y="3976461"/>
            <a:ext cx="2812500" cy="539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EEF2EC"/>
              </a:buClr>
              <a:buSzPts val="1500"/>
              <a:buFont typeface="DM Sans"/>
              <a:buNone/>
            </a:pPr>
            <a:r>
              <a:rPr lang="en-US" sz="1500">
                <a:solidFill>
                  <a:srgbClr val="EEF2EC"/>
                </a:solidFill>
                <a:latin typeface="DM Sans"/>
                <a:ea typeface="DM Sans"/>
                <a:cs typeface="DM Sans"/>
                <a:sym typeface="DM Sans"/>
              </a:rPr>
              <a:t>actual damage per site from </a:t>
            </a:r>
            <a:r>
              <a:rPr lang="en-US" sz="1500">
                <a:solidFill>
                  <a:srgbClr val="EEF2EC"/>
                </a:solidFill>
                <a:latin typeface="DM Sans"/>
                <a:ea typeface="DM Sans"/>
                <a:cs typeface="DM Sans"/>
                <a:sym typeface="DM Sans"/>
              </a:rPr>
              <a:t>algae</a:t>
            </a:r>
            <a:endParaRPr b="0" i="0" sz="1500" u="none" cap="none" strike="noStrike">
              <a:solidFill>
                <a:schemeClr val="dk1"/>
              </a:solidFill>
              <a:latin typeface="Calibri"/>
              <a:ea typeface="Calibri"/>
              <a:cs typeface="Calibri"/>
              <a:sym typeface="Calibri"/>
            </a:endParaRPr>
          </a:p>
        </p:txBody>
      </p:sp>
      <p:sp>
        <p:nvSpPr>
          <p:cNvPr id="76" name="Google Shape;76;p10"/>
          <p:cNvSpPr/>
          <p:nvPr/>
        </p:nvSpPr>
        <p:spPr>
          <a:xfrm>
            <a:off x="4422775" y="2738211"/>
            <a:ext cx="3346500" cy="2279700"/>
          </a:xfrm>
          <a:prstGeom prst="roundRect">
            <a:avLst>
              <a:gd fmla="val 6546" name="adj"/>
            </a:avLst>
          </a:prstGeom>
          <a:solidFill>
            <a:srgbClr val="0F2C31"/>
          </a:solidFill>
          <a:ln cap="flat" cmpd="sng" w="9525">
            <a:solidFill>
              <a:srgbClr val="1F4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p:nvPr/>
        </p:nvSpPr>
        <p:spPr>
          <a:xfrm>
            <a:off x="4730750" y="3976461"/>
            <a:ext cx="2812500" cy="539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EEF2EC"/>
              </a:buClr>
              <a:buSzPts val="1500"/>
              <a:buFont typeface="DM Sans"/>
              <a:buNone/>
            </a:pPr>
            <a:r>
              <a:rPr lang="en-US" sz="1500">
                <a:solidFill>
                  <a:srgbClr val="EEF2EC"/>
                </a:solidFill>
                <a:latin typeface="DM Sans"/>
                <a:ea typeface="DM Sans"/>
                <a:cs typeface="DM Sans"/>
                <a:sym typeface="DM Sans"/>
              </a:rPr>
              <a:t>what</a:t>
            </a:r>
            <a:r>
              <a:rPr lang="en-US" sz="1500">
                <a:solidFill>
                  <a:srgbClr val="EEF2EC"/>
                </a:solidFill>
                <a:latin typeface="DM Sans"/>
                <a:ea typeface="DM Sans"/>
                <a:cs typeface="DM Sans"/>
                <a:sym typeface="DM Sans"/>
              </a:rPr>
              <a:t> we charge</a:t>
            </a:r>
            <a:endParaRPr b="0" i="0" sz="1500" u="none" cap="none" strike="noStrike">
              <a:solidFill>
                <a:schemeClr val="dk1"/>
              </a:solidFill>
              <a:latin typeface="Calibri"/>
              <a:ea typeface="Calibri"/>
              <a:cs typeface="Calibri"/>
              <a:sym typeface="Calibri"/>
            </a:endParaRPr>
          </a:p>
        </p:txBody>
      </p:sp>
      <p:sp>
        <p:nvSpPr>
          <p:cNvPr id="78" name="Google Shape;78;p10"/>
          <p:cNvSpPr/>
          <p:nvPr/>
        </p:nvSpPr>
        <p:spPr>
          <a:xfrm>
            <a:off x="8029575" y="2738211"/>
            <a:ext cx="3346500" cy="2279700"/>
          </a:xfrm>
          <a:prstGeom prst="roundRect">
            <a:avLst>
              <a:gd fmla="val 6546" name="adj"/>
            </a:avLst>
          </a:prstGeom>
          <a:solidFill>
            <a:srgbClr val="0F2C31"/>
          </a:solidFill>
          <a:ln cap="flat" cmpd="sng" w="9525">
            <a:solidFill>
              <a:srgbClr val="1F4A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0"/>
          <p:cNvSpPr/>
          <p:nvPr/>
        </p:nvSpPr>
        <p:spPr>
          <a:xfrm>
            <a:off x="4689788" y="3265261"/>
            <a:ext cx="2812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BE564"/>
              </a:buClr>
              <a:buSzPts val="4800"/>
              <a:buFont typeface="Space Grotesk"/>
              <a:buNone/>
            </a:pPr>
            <a:r>
              <a:rPr b="1" lang="en-US" sz="4800">
                <a:solidFill>
                  <a:srgbClr val="9BE564"/>
                </a:solidFill>
                <a:latin typeface="Space Grotesk"/>
                <a:ea typeface="Space Grotesk"/>
                <a:cs typeface="Space Grotesk"/>
                <a:sym typeface="Space Grotesk"/>
              </a:rPr>
              <a:t>$50</a:t>
            </a:r>
            <a:r>
              <a:rPr b="1" i="0" lang="en-US" sz="4800" u="none" cap="none" strike="noStrike">
                <a:solidFill>
                  <a:srgbClr val="9BE564"/>
                </a:solidFill>
                <a:latin typeface="Space Grotesk"/>
                <a:ea typeface="Space Grotesk"/>
                <a:cs typeface="Space Grotesk"/>
                <a:sym typeface="Space Grotesk"/>
              </a:rPr>
              <a:t>k</a:t>
            </a:r>
            <a:endParaRPr b="0" i="0" sz="4800" u="none" cap="none" strike="noStrike">
              <a:solidFill>
                <a:schemeClr val="dk1"/>
              </a:solidFill>
              <a:latin typeface="Calibri"/>
              <a:ea typeface="Calibri"/>
              <a:cs typeface="Calibri"/>
              <a:sym typeface="Calibri"/>
            </a:endParaRPr>
          </a:p>
        </p:txBody>
      </p:sp>
      <p:sp>
        <p:nvSpPr>
          <p:cNvPr id="80" name="Google Shape;80;p10"/>
          <p:cNvSpPr/>
          <p:nvPr/>
        </p:nvSpPr>
        <p:spPr>
          <a:xfrm>
            <a:off x="8337550" y="3976461"/>
            <a:ext cx="2812500" cy="539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EEF2EC"/>
              </a:buClr>
              <a:buSzPts val="1500"/>
              <a:buFont typeface="DM Sans"/>
              <a:buNone/>
            </a:pPr>
            <a:r>
              <a:t/>
            </a:r>
            <a:endParaRPr b="0" i="0" sz="1500" u="none" cap="none" strike="noStrike">
              <a:solidFill>
                <a:schemeClr val="dk1"/>
              </a:solidFill>
              <a:latin typeface="Calibri"/>
              <a:ea typeface="Calibri"/>
              <a:cs typeface="Calibri"/>
              <a:sym typeface="Calibri"/>
            </a:endParaRPr>
          </a:p>
        </p:txBody>
      </p:sp>
      <p:sp>
        <p:nvSpPr>
          <p:cNvPr id="81" name="Google Shape;81;p10"/>
          <p:cNvSpPr/>
          <p:nvPr/>
        </p:nvSpPr>
        <p:spPr>
          <a:xfrm>
            <a:off x="1117600" y="4965700"/>
            <a:ext cx="966242"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71A1E"/>
              </a:buClr>
              <a:buSzPts val="2000"/>
              <a:buFont typeface="Space Grotesk"/>
              <a:buNone/>
            </a:pPr>
            <a:r>
              <a:rPr b="1" i="0" lang="en-US" sz="2000" u="none" cap="none" strike="noStrike">
                <a:solidFill>
                  <a:srgbClr val="071A1E"/>
                </a:solidFill>
                <a:latin typeface="Space Grotesk"/>
                <a:ea typeface="Space Grotesk"/>
                <a:cs typeface="Space Grotesk"/>
                <a:sym typeface="Space Grotesk"/>
              </a:rPr>
              <a:t>Our ask</a:t>
            </a:r>
            <a:endParaRPr b="0" i="0" sz="2000" u="none" cap="none" strike="noStrike">
              <a:solidFill>
                <a:schemeClr val="dk1"/>
              </a:solidFill>
              <a:latin typeface="Calibri"/>
              <a:ea typeface="Calibri"/>
              <a:cs typeface="Calibri"/>
              <a:sym typeface="Calibri"/>
            </a:endParaRPr>
          </a:p>
        </p:txBody>
      </p:sp>
      <p:sp>
        <p:nvSpPr>
          <p:cNvPr id="82" name="Google Shape;82;p10"/>
          <p:cNvSpPr/>
          <p:nvPr/>
        </p:nvSpPr>
        <p:spPr>
          <a:xfrm>
            <a:off x="2236242" y="5011440"/>
            <a:ext cx="6963370" cy="289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71A1E"/>
              </a:buClr>
              <a:buSzPts val="1600"/>
              <a:buFont typeface="DM Sans"/>
              <a:buNone/>
            </a:pPr>
            <a:r>
              <a:rPr b="0" i="0" lang="en-US" sz="1600" u="none" cap="none" strike="noStrike">
                <a:solidFill>
                  <a:srgbClr val="071A1E"/>
                </a:solidFill>
                <a:latin typeface="DM Sans"/>
                <a:ea typeface="DM Sans"/>
                <a:cs typeface="DM Sans"/>
                <a:sym typeface="DM Sans"/>
              </a:rPr>
              <a:t>[A pilot with one Icelandic fish farm · mentors · €__ to launch]</a:t>
            </a:r>
            <a:endParaRPr b="0" i="0" sz="1600" u="none" cap="none" strike="noStrike">
              <a:solidFill>
                <a:schemeClr val="dk1"/>
              </a:solidFill>
              <a:latin typeface="Calibri"/>
              <a:ea typeface="Calibri"/>
              <a:cs typeface="Calibri"/>
              <a:sym typeface="Calibri"/>
            </a:endParaRPr>
          </a:p>
        </p:txBody>
      </p:sp>
      <p:sp>
        <p:nvSpPr>
          <p:cNvPr id="83" name="Google Shape;83;p10"/>
          <p:cNvSpPr/>
          <p:nvPr/>
        </p:nvSpPr>
        <p:spPr>
          <a:xfrm>
            <a:off x="8337500" y="3325536"/>
            <a:ext cx="2812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BE564"/>
              </a:buClr>
              <a:buSzPts val="4800"/>
              <a:buFont typeface="Space Grotesk"/>
              <a:buNone/>
            </a:pPr>
            <a:r>
              <a:rPr b="1" lang="en-US" sz="4800">
                <a:solidFill>
                  <a:srgbClr val="9BE564"/>
                </a:solidFill>
                <a:latin typeface="Space Grotesk"/>
                <a:ea typeface="Space Grotesk"/>
                <a:cs typeface="Space Grotesk"/>
                <a:sym typeface="Space Grotesk"/>
              </a:rPr>
              <a:t>$400k</a:t>
            </a:r>
            <a:endParaRPr b="0" i="0" sz="4800" u="none" cap="none" strike="noStrike">
              <a:solidFill>
                <a:schemeClr val="dk1"/>
              </a:solidFill>
              <a:latin typeface="Calibri"/>
              <a:ea typeface="Calibri"/>
              <a:cs typeface="Calibri"/>
              <a:sym typeface="Calibri"/>
            </a:endParaRPr>
          </a:p>
        </p:txBody>
      </p:sp>
      <p:sp>
        <p:nvSpPr>
          <p:cNvPr id="84" name="Google Shape;84;p10"/>
          <p:cNvSpPr/>
          <p:nvPr/>
        </p:nvSpPr>
        <p:spPr>
          <a:xfrm>
            <a:off x="8337550" y="4064561"/>
            <a:ext cx="2812500" cy="539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EEF2EC"/>
              </a:buClr>
              <a:buSzPts val="1500"/>
              <a:buFont typeface="DM Sans"/>
              <a:buNone/>
            </a:pPr>
            <a:r>
              <a:rPr lang="en-US" sz="1500">
                <a:solidFill>
                  <a:srgbClr val="EEF2EC"/>
                </a:solidFill>
                <a:latin typeface="DM Sans"/>
                <a:ea typeface="DM Sans"/>
                <a:cs typeface="DM Sans"/>
                <a:sym typeface="DM Sans"/>
              </a:rPr>
              <a:t>saved cost per site per year</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BE564"/>
        </a:solidFill>
      </p:bgPr>
    </p:bg>
    <p:spTree>
      <p:nvGrpSpPr>
        <p:cNvPr id="89" name="Shape 89"/>
        <p:cNvGrpSpPr/>
        <p:nvPr/>
      </p:nvGrpSpPr>
      <p:grpSpPr>
        <a:xfrm>
          <a:off x="0" y="0"/>
          <a:ext cx="0" cy="0"/>
          <a:chOff x="0" y="0"/>
          <a:chExt cx="0" cy="0"/>
        </a:xfrm>
      </p:grpSpPr>
      <p:sp>
        <p:nvSpPr>
          <p:cNvPr id="90" name="Google Shape;90;p11"/>
          <p:cNvSpPr/>
          <p:nvPr/>
        </p:nvSpPr>
        <p:spPr>
          <a:xfrm>
            <a:off x="812800" y="2032000"/>
            <a:ext cx="10883392" cy="14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71A1E"/>
              </a:buClr>
              <a:buSzPts val="11000"/>
              <a:buFont typeface="Space Grotesk"/>
              <a:buNone/>
            </a:pPr>
            <a:r>
              <a:rPr b="1" i="0" lang="en-US" sz="11000" u="none" cap="none" strike="noStrike">
                <a:solidFill>
                  <a:srgbClr val="071A1E"/>
                </a:solidFill>
                <a:latin typeface="Space Grotesk"/>
                <a:ea typeface="Space Grotesk"/>
                <a:cs typeface="Space Grotesk"/>
                <a:sym typeface="Space Grotesk"/>
              </a:rPr>
              <a:t>But wait…</a:t>
            </a:r>
            <a:endParaRPr b="0" i="0" sz="11000" u="none" cap="none" strike="noStrike">
              <a:solidFill>
                <a:schemeClr val="dk1"/>
              </a:solidFill>
              <a:latin typeface="Calibri"/>
              <a:ea typeface="Calibri"/>
              <a:cs typeface="Calibri"/>
              <a:sym typeface="Calibri"/>
            </a:endParaRPr>
          </a:p>
        </p:txBody>
      </p:sp>
      <p:sp>
        <p:nvSpPr>
          <p:cNvPr id="91" name="Google Shape;91;p11"/>
          <p:cNvSpPr/>
          <p:nvPr/>
        </p:nvSpPr>
        <p:spPr>
          <a:xfrm>
            <a:off x="812800" y="3429000"/>
            <a:ext cx="10883392" cy="14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5C3C"/>
              </a:buClr>
              <a:buSzPts val="11000"/>
              <a:buFont typeface="Space Grotesk"/>
              <a:buNone/>
            </a:pPr>
            <a:r>
              <a:rPr b="0" i="0" lang="en-US" sz="11000" u="none" cap="none" strike="noStrike">
                <a:solidFill>
                  <a:srgbClr val="1F5C3C"/>
                </a:solidFill>
                <a:latin typeface="Space Grotesk"/>
                <a:ea typeface="Space Grotesk"/>
                <a:cs typeface="Space Grotesk"/>
                <a:sym typeface="Space Grotesk"/>
              </a:rPr>
              <a:t>there’s more.</a:t>
            </a:r>
            <a:endParaRPr b="0" i="0" sz="1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EC"/>
        </a:solidFill>
      </p:bgPr>
    </p:bg>
    <p:spTree>
      <p:nvGrpSpPr>
        <p:cNvPr id="96" name="Shape 96"/>
        <p:cNvGrpSpPr/>
        <p:nvPr/>
      </p:nvGrpSpPr>
      <p:grpSpPr>
        <a:xfrm>
          <a:off x="0" y="0"/>
          <a:ext cx="0" cy="0"/>
          <a:chOff x="0" y="0"/>
          <a:chExt cx="0" cy="0"/>
        </a:xfrm>
      </p:grpSpPr>
      <p:pic>
        <p:nvPicPr>
          <p:cNvPr id="97" name="Google Shape;97;p12"/>
          <p:cNvPicPr preferRelativeResize="0"/>
          <p:nvPr/>
        </p:nvPicPr>
        <p:blipFill>
          <a:blip r:embed="rId3">
            <a:alphaModFix/>
          </a:blip>
          <a:stretch>
            <a:fillRect/>
          </a:stretch>
        </p:blipFill>
        <p:spPr>
          <a:xfrm>
            <a:off x="0" y="0"/>
            <a:ext cx="12192000" cy="6858000"/>
          </a:xfrm>
          <a:prstGeom prst="rect">
            <a:avLst/>
          </a:prstGeom>
          <a:noFill/>
          <a:ln>
            <a:noFill/>
          </a:ln>
        </p:spPr>
      </p:pic>
      <p:sp>
        <p:nvSpPr>
          <p:cNvPr id="98" name="Google Shape;98;p12"/>
          <p:cNvSpPr/>
          <p:nvPr/>
        </p:nvSpPr>
        <p:spPr>
          <a:xfrm>
            <a:off x="10428850" y="6045991"/>
            <a:ext cx="1682700" cy="743400"/>
          </a:xfrm>
          <a:prstGeom prst="rect">
            <a:avLst/>
          </a:prstGeom>
          <a:solidFill>
            <a:srgbClr val="151D2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3"/>
          <p:cNvPicPr preferRelativeResize="0"/>
          <p:nvPr/>
        </p:nvPicPr>
        <p:blipFill>
          <a:blip r:embed="rId3">
            <a:alphaModFix/>
          </a:blip>
          <a:stretch>
            <a:fillRect/>
          </a:stretch>
        </p:blipFill>
        <p:spPr>
          <a:xfrm>
            <a:off x="152400" y="152400"/>
            <a:ext cx="11741150" cy="655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4"/>
          <p:cNvPicPr preferRelativeResize="0"/>
          <p:nvPr/>
        </p:nvPicPr>
        <p:blipFill>
          <a:blip r:embed="rId3">
            <a:alphaModFix/>
          </a:blip>
          <a:stretch>
            <a:fillRect/>
          </a:stretch>
        </p:blipFill>
        <p:spPr>
          <a:xfrm>
            <a:off x="-551847" y="-160365"/>
            <a:ext cx="15202149" cy="6994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EC"/>
        </a:solidFill>
      </p:bgPr>
    </p:bg>
    <p:spTree>
      <p:nvGrpSpPr>
        <p:cNvPr id="115" name="Shape 115"/>
        <p:cNvGrpSpPr/>
        <p:nvPr/>
      </p:nvGrpSpPr>
      <p:grpSpPr>
        <a:xfrm>
          <a:off x="0" y="0"/>
          <a:ext cx="0" cy="0"/>
          <a:chOff x="0" y="0"/>
          <a:chExt cx="0" cy="0"/>
        </a:xfrm>
      </p:grpSpPr>
      <p:pic>
        <p:nvPicPr>
          <p:cNvPr id="116" name="Google Shape;116;p15"/>
          <p:cNvPicPr preferRelativeResize="0"/>
          <p:nvPr/>
        </p:nvPicPr>
        <p:blipFill>
          <a:blip r:embed="rId3">
            <a:alphaModFix/>
          </a:blip>
          <a:stretch>
            <a:fillRect/>
          </a:stretch>
        </p:blipFill>
        <p:spPr>
          <a:xfrm>
            <a:off x="-298450" y="-99225"/>
            <a:ext cx="12635024" cy="7052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812800" y="812800"/>
            <a:ext cx="10883392"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BE564"/>
              </a:buClr>
              <a:buSzPts val="2800"/>
              <a:buFont typeface="Space Grotesk"/>
              <a:buNone/>
            </a:pPr>
            <a:r>
              <a:rPr b="1" i="0" lang="en-US" sz="2800" u="none" cap="none" strike="noStrike">
                <a:solidFill>
                  <a:srgbClr val="9BE564"/>
                </a:solidFill>
                <a:latin typeface="Space Grotesk"/>
                <a:ea typeface="Space Grotesk"/>
                <a:cs typeface="Space Grotesk"/>
                <a:sym typeface="Space Grotesk"/>
              </a:rPr>
              <a:t>aquagentic</a:t>
            </a:r>
            <a:endParaRPr b="0" i="0" sz="2800" u="none" cap="none" strike="noStrike">
              <a:solidFill>
                <a:schemeClr val="dk1"/>
              </a:solidFill>
              <a:latin typeface="Calibri"/>
              <a:ea typeface="Calibri"/>
              <a:cs typeface="Calibri"/>
              <a:sym typeface="Calibri"/>
            </a:endParaRPr>
          </a:p>
        </p:txBody>
      </p:sp>
      <p:sp>
        <p:nvSpPr>
          <p:cNvPr id="123" name="Google Shape;123;p16"/>
          <p:cNvSpPr/>
          <p:nvPr/>
        </p:nvSpPr>
        <p:spPr>
          <a:xfrm>
            <a:off x="812800" y="2466380"/>
            <a:ext cx="10883392" cy="20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EF2EC"/>
              </a:buClr>
              <a:buSzPts val="8000"/>
              <a:buFont typeface="Space Grotesk"/>
              <a:buNone/>
            </a:pPr>
            <a:r>
              <a:rPr b="1" i="0" lang="en-US" sz="8000" u="none" cap="none" strike="noStrike">
                <a:solidFill>
                  <a:srgbClr val="EEF2EC"/>
                </a:solidFill>
                <a:latin typeface="Space Grotesk"/>
                <a:ea typeface="Space Grotesk"/>
                <a:cs typeface="Space Grotesk"/>
                <a:sym typeface="Space Grotesk"/>
              </a:rPr>
              <a:t>See the bloom</a:t>
            </a:r>
            <a:endParaRPr b="0" i="0" sz="8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EF2EC"/>
              </a:buClr>
              <a:buSzPts val="8000"/>
              <a:buFont typeface="Space Grotesk"/>
              <a:buNone/>
            </a:pPr>
            <a:r>
              <a:rPr b="1" i="0" lang="en-US" sz="8000" u="none" cap="none" strike="noStrike">
                <a:solidFill>
                  <a:srgbClr val="EEF2EC"/>
                </a:solidFill>
                <a:latin typeface="Space Grotesk"/>
                <a:ea typeface="Space Grotesk"/>
                <a:cs typeface="Space Grotesk"/>
                <a:sym typeface="Space Grotesk"/>
              </a:rPr>
              <a:t>before it hits.</a:t>
            </a:r>
            <a:endParaRPr b="0" i="0" sz="8000" u="none" cap="none" strike="noStrike">
              <a:solidFill>
                <a:schemeClr val="dk1"/>
              </a:solidFill>
              <a:latin typeface="Calibri"/>
              <a:ea typeface="Calibri"/>
              <a:cs typeface="Calibri"/>
              <a:sym typeface="Calibri"/>
            </a:endParaRPr>
          </a:p>
        </p:txBody>
      </p:sp>
      <p:sp>
        <p:nvSpPr>
          <p:cNvPr id="124" name="Google Shape;124;p16"/>
          <p:cNvSpPr/>
          <p:nvPr/>
        </p:nvSpPr>
        <p:spPr>
          <a:xfrm>
            <a:off x="812800" y="5707410"/>
            <a:ext cx="398740"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Vid</a:t>
            </a:r>
            <a:endParaRPr b="0" i="0" sz="1600" u="none" cap="none" strike="noStrike">
              <a:solidFill>
                <a:schemeClr val="dk1"/>
              </a:solidFill>
              <a:latin typeface="Calibri"/>
              <a:ea typeface="Calibri"/>
              <a:cs typeface="Calibri"/>
              <a:sym typeface="Calibri"/>
            </a:endParaRPr>
          </a:p>
        </p:txBody>
      </p:sp>
      <p:sp>
        <p:nvSpPr>
          <p:cNvPr id="125" name="Google Shape;125;p16"/>
          <p:cNvSpPr/>
          <p:nvPr/>
        </p:nvSpPr>
        <p:spPr>
          <a:xfrm>
            <a:off x="1500684" y="5707410"/>
            <a:ext cx="1114723"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Demetrio</a:t>
            </a:r>
            <a:endParaRPr b="0" i="0" sz="1600" u="none" cap="none" strike="noStrike">
              <a:solidFill>
                <a:schemeClr val="dk1"/>
              </a:solidFill>
              <a:latin typeface="Calibri"/>
              <a:ea typeface="Calibri"/>
              <a:cs typeface="Calibri"/>
              <a:sym typeface="Calibri"/>
            </a:endParaRPr>
          </a:p>
        </p:txBody>
      </p:sp>
      <p:sp>
        <p:nvSpPr>
          <p:cNvPr id="126" name="Google Shape;126;p16"/>
          <p:cNvSpPr/>
          <p:nvPr/>
        </p:nvSpPr>
        <p:spPr>
          <a:xfrm>
            <a:off x="2785219" y="5707410"/>
            <a:ext cx="441900"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Tim</a:t>
            </a:r>
            <a:endParaRPr b="0" i="0" sz="1600" u="none" cap="none" strike="noStrike">
              <a:solidFill>
                <a:schemeClr val="dk1"/>
              </a:solidFill>
              <a:latin typeface="Calibri"/>
              <a:ea typeface="Calibri"/>
              <a:cs typeface="Calibri"/>
              <a:sym typeface="Calibri"/>
            </a:endParaRPr>
          </a:p>
        </p:txBody>
      </p:sp>
      <p:sp>
        <p:nvSpPr>
          <p:cNvPr id="127" name="Google Shape;127;p16"/>
          <p:cNvSpPr/>
          <p:nvPr/>
        </p:nvSpPr>
        <p:spPr>
          <a:xfrm>
            <a:off x="3509070" y="5707410"/>
            <a:ext cx="577513"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EF2EC"/>
              </a:buClr>
              <a:buSzPts val="1600"/>
              <a:buFont typeface="DM Sans"/>
              <a:buNone/>
            </a:pPr>
            <a:r>
              <a:rPr b="1" i="0" lang="en-US" sz="1600" u="none" cap="none" strike="noStrike">
                <a:solidFill>
                  <a:srgbClr val="EEF2EC"/>
                </a:solidFill>
                <a:latin typeface="DM Sans"/>
                <a:ea typeface="DM Sans"/>
                <a:cs typeface="DM Sans"/>
                <a:sym typeface="DM Sans"/>
              </a:rPr>
              <a:t>Luca</a:t>
            </a:r>
            <a:endParaRPr b="0" i="0" sz="1600" u="none" cap="none" strike="noStrike">
              <a:solidFill>
                <a:schemeClr val="dk1"/>
              </a:solidFill>
              <a:latin typeface="Calibri"/>
              <a:ea typeface="Calibri"/>
              <a:cs typeface="Calibri"/>
              <a:sym typeface="Calibri"/>
            </a:endParaRPr>
          </a:p>
        </p:txBody>
      </p:sp>
      <p:sp>
        <p:nvSpPr>
          <p:cNvPr id="128" name="Google Shape;128;p16"/>
          <p:cNvSpPr/>
          <p:nvPr/>
        </p:nvSpPr>
        <p:spPr>
          <a:xfrm>
            <a:off x="9737328" y="5654080"/>
            <a:ext cx="1641872" cy="4165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A9C2BD"/>
              </a:buClr>
              <a:buSzPts val="2200"/>
              <a:buFont typeface="DM Sans"/>
              <a:buNone/>
            </a:pPr>
            <a:r>
              <a:rPr b="0" i="0" lang="en-US" sz="2200" u="none" cap="none" strike="noStrike">
                <a:solidFill>
                  <a:srgbClr val="A9C2BD"/>
                </a:solidFill>
                <a:latin typeface="DM Sans"/>
                <a:ea typeface="DM Sans"/>
                <a:cs typeface="DM Sans"/>
                <a:sym typeface="DM Sans"/>
              </a:rPr>
              <a:t>Thank you.</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